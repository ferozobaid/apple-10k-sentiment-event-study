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2983D-2228-814A-98C6-149333AD3A9C}" v="268" dt="2026-04-23T05:39:52.570"/>
    <p1510:client id="{8FB0C707-C5EB-46AA-8F6F-3D2B2BD7C30B}" v="1" dt="2026-04-23T04:56:48.816"/>
    <p1510:client id="{BDC923A8-D747-1447-B292-47E59D2F1C9F}" v="9" dt="2026-04-23T04:57:44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29480"/>
  </p:normalViewPr>
  <p:slideViewPr>
    <p:cSldViewPr snapToGrid="0">
      <p:cViewPr varScale="1">
        <p:scale>
          <a:sx n="30" d="100"/>
          <a:sy n="30" d="100"/>
        </p:scale>
        <p:origin x="3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CA" sz="1200" b="0" i="0" u="none" strike="noStrike">
                <a:solidFill>
                  <a:srgbClr val="1E2761"/>
                </a:solidFill>
                <a:latin typeface="Calibri"/>
              </a:rPr>
              <a:t>Negative Word % in Apple's 10-K Filings, 2010–2024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 %</c:v>
                </c:pt>
              </c:strCache>
            </c:strRef>
          </c:tx>
          <c:spPr>
            <a:ln w="38100" cap="flat">
              <a:solidFill>
                <a:srgbClr val="D94A38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D94A38"/>
              </a:solidFill>
              <a:ln w="9525" cap="flat">
                <a:solidFill>
                  <a:srgbClr val="D94A38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1.7010000000000001</c:v>
                </c:pt>
                <c:pt idx="1">
                  <c:v>1.7350000000000001</c:v>
                </c:pt>
                <c:pt idx="2">
                  <c:v>1.5980000000000001</c:v>
                </c:pt>
                <c:pt idx="3">
                  <c:v>1.663</c:v>
                </c:pt>
                <c:pt idx="4">
                  <c:v>1.5980000000000001</c:v>
                </c:pt>
                <c:pt idx="5">
                  <c:v>1.653</c:v>
                </c:pt>
                <c:pt idx="6">
                  <c:v>1.6140000000000001</c:v>
                </c:pt>
                <c:pt idx="7">
                  <c:v>1.621</c:v>
                </c:pt>
                <c:pt idx="8">
                  <c:v>1.7450000000000001</c:v>
                </c:pt>
                <c:pt idx="9">
                  <c:v>1.887</c:v>
                </c:pt>
                <c:pt idx="10">
                  <c:v>1.8759999999999999</c:v>
                </c:pt>
                <c:pt idx="11">
                  <c:v>2.1019999999999999</c:v>
                </c:pt>
                <c:pt idx="12">
                  <c:v>2.0950000000000002</c:v>
                </c:pt>
                <c:pt idx="13">
                  <c:v>2.1829999999999998</c:v>
                </c:pt>
                <c:pt idx="14">
                  <c:v>2.3250000000000002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C2-FF44-B597-4692D4F4459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1.4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CA" sz="1000" b="0" i="0" u="none" strike="noStrike">
                    <a:solidFill>
                      <a:srgbClr val="6B7280"/>
                    </a:solidFill>
                    <a:latin typeface="Arial"/>
                  </a:rPr>
                  <a:t>Negative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CA" sz="1200" b="0" i="0" u="none" strike="noStrike">
                <a:solidFill>
                  <a:srgbClr val="1E2761"/>
                </a:solidFill>
                <a:latin typeface="Calibri"/>
              </a:rPr>
              <a:t>Negative Sentiment vs CAR[0,+3]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CAR[0,+3] %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1.7010000000000001</c:v>
                </c:pt>
                <c:pt idx="1">
                  <c:v>1.7350000000000001</c:v>
                </c:pt>
                <c:pt idx="2">
                  <c:v>1.5980000000000001</c:v>
                </c:pt>
                <c:pt idx="3">
                  <c:v>1.663</c:v>
                </c:pt>
                <c:pt idx="4">
                  <c:v>1.5980000000000001</c:v>
                </c:pt>
                <c:pt idx="5">
                  <c:v>1.653</c:v>
                </c:pt>
                <c:pt idx="6">
                  <c:v>1.6140000000000001</c:v>
                </c:pt>
                <c:pt idx="7">
                  <c:v>1.621</c:v>
                </c:pt>
                <c:pt idx="8">
                  <c:v>1.7450000000000001</c:v>
                </c:pt>
                <c:pt idx="9">
                  <c:v>1.887</c:v>
                </c:pt>
                <c:pt idx="10">
                  <c:v>1.8759999999999999</c:v>
                </c:pt>
                <c:pt idx="11">
                  <c:v>2.1019999999999999</c:v>
                </c:pt>
                <c:pt idx="12">
                  <c:v>2.0950000000000002</c:v>
                </c:pt>
                <c:pt idx="13">
                  <c:v>2.1829999999999998</c:v>
                </c:pt>
                <c:pt idx="14">
                  <c:v>2.3250000000000002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-1.744</c:v>
                </c:pt>
                <c:pt idx="1">
                  <c:v>-0.879</c:v>
                </c:pt>
                <c:pt idx="2">
                  <c:v>-3.9940000000000002</c:v>
                </c:pt>
                <c:pt idx="3">
                  <c:v>1.742</c:v>
                </c:pt>
                <c:pt idx="4">
                  <c:v>-0.187</c:v>
                </c:pt>
                <c:pt idx="5">
                  <c:v>3.5640000000000001</c:v>
                </c:pt>
                <c:pt idx="6">
                  <c:v>-4.0289999999999999</c:v>
                </c:pt>
                <c:pt idx="7">
                  <c:v>4.4329999999999998</c:v>
                </c:pt>
                <c:pt idx="8">
                  <c:v>-2.8809999999999998</c:v>
                </c:pt>
                <c:pt idx="9">
                  <c:v>3.6469999999999998</c:v>
                </c:pt>
                <c:pt idx="10">
                  <c:v>-5.5060000000000002</c:v>
                </c:pt>
                <c:pt idx="11">
                  <c:v>-2.786</c:v>
                </c:pt>
                <c:pt idx="12">
                  <c:v>1.804</c:v>
                </c:pt>
                <c:pt idx="13">
                  <c:v>1.764</c:v>
                </c:pt>
                <c:pt idx="14">
                  <c:v>-5.9989999999999997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0D3-314E-89FC-9D689C2E18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CA" sz="1100" b="0" i="0" u="none" strike="noStrike">
                    <a:solidFill>
                      <a:srgbClr val="6B7280"/>
                    </a:solidFill>
                    <a:latin typeface="Arial"/>
                  </a:rPr>
                  <a:t>Negative Word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CA" sz="1100" b="0" i="0" u="none" strike="noStrike">
                    <a:solidFill>
                      <a:srgbClr val="6B7280"/>
                    </a:solidFill>
                    <a:latin typeface="Arial"/>
                  </a:rPr>
                  <a:t>CAR [0, +3]  (%)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CA" sz="1200" b="0" i="0" u="none" strike="noStrike">
                <a:solidFill>
                  <a:srgbClr val="1E2761"/>
                </a:solidFill>
                <a:latin typeface="Calibri"/>
              </a:rPr>
              <a:t>CAAR Around Apple 10-K Filings (N=15, Market Model)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CAAR (%)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  <c:pt idx="11">
                  <c:v>6</c:v>
                </c:pt>
                <c:pt idx="12">
                  <c:v>7</c:v>
                </c:pt>
                <c:pt idx="13">
                  <c:v>8</c:v>
                </c:pt>
                <c:pt idx="14">
                  <c:v>9</c:v>
                </c:pt>
                <c:pt idx="15">
                  <c:v>10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0.12</c:v>
                </c:pt>
                <c:pt idx="1">
                  <c:v>0.26</c:v>
                </c:pt>
                <c:pt idx="2">
                  <c:v>0.42</c:v>
                </c:pt>
                <c:pt idx="3">
                  <c:v>-0.08</c:v>
                </c:pt>
                <c:pt idx="4">
                  <c:v>-0.74</c:v>
                </c:pt>
                <c:pt idx="5">
                  <c:v>-0.95</c:v>
                </c:pt>
                <c:pt idx="6">
                  <c:v>-1.24</c:v>
                </c:pt>
                <c:pt idx="7">
                  <c:v>-1.57</c:v>
                </c:pt>
                <c:pt idx="8">
                  <c:v>-1.43</c:v>
                </c:pt>
                <c:pt idx="9">
                  <c:v>-1.66</c:v>
                </c:pt>
                <c:pt idx="10">
                  <c:v>-2.04</c:v>
                </c:pt>
                <c:pt idx="11">
                  <c:v>-3.03</c:v>
                </c:pt>
                <c:pt idx="12">
                  <c:v>-3.25</c:v>
                </c:pt>
                <c:pt idx="13">
                  <c:v>-3.26</c:v>
                </c:pt>
                <c:pt idx="14">
                  <c:v>-3.06</c:v>
                </c:pt>
                <c:pt idx="15">
                  <c:v>-3.45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4E-3044-8BF3-798216532A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CA" sz="1000" b="0" i="0" u="none" strike="noStrike">
                    <a:solidFill>
                      <a:srgbClr val="6B7280"/>
                    </a:solidFill>
                    <a:latin typeface="Arial"/>
                  </a:rPr>
                  <a:t>Trading Day Relative to Filing (</a:t>
                </a:r>
                <a:r>
                  <a:rPr lang="el-GR" sz="1000" b="0" i="0" u="none" strike="noStrike">
                    <a:solidFill>
                      <a:srgbClr val="6B7280"/>
                    </a:solidFill>
                    <a:latin typeface="Arial"/>
                  </a:rPr>
                  <a:t>τ)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CA" sz="1000" b="0" i="0" u="none" strike="noStrike">
                    <a:solidFill>
                      <a:srgbClr val="6B7280"/>
                    </a:solidFill>
                    <a:latin typeface="Arial"/>
                  </a:rPr>
                  <a:t>CAAR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CA" sz="1200" b="0" i="0" u="none" strike="noStrike">
                <a:solidFill>
                  <a:srgbClr val="1E2761"/>
                </a:solidFill>
                <a:latin typeface="Calibri"/>
              </a:rPr>
              <a:t>CAR[0,+3] by Filing Year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CAR[0,+3] %</c:v>
                </c:pt>
              </c:strCache>
            </c:strRef>
          </c:tx>
          <c:spPr>
            <a:solidFill>
              <a:srgbClr val="D94A38">
                <a:alpha val="90000"/>
              </a:srgbClr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-1.744</c:v>
                </c:pt>
                <c:pt idx="1">
                  <c:v>-0.879</c:v>
                </c:pt>
                <c:pt idx="2">
                  <c:v>-3.9940000000000002</c:v>
                </c:pt>
                <c:pt idx="3">
                  <c:v>1.742</c:v>
                </c:pt>
                <c:pt idx="4">
                  <c:v>-0.187</c:v>
                </c:pt>
                <c:pt idx="5">
                  <c:v>3.5640000000000001</c:v>
                </c:pt>
                <c:pt idx="6">
                  <c:v>-4.0289999999999999</c:v>
                </c:pt>
                <c:pt idx="7">
                  <c:v>4.4329999999999998</c:v>
                </c:pt>
                <c:pt idx="8">
                  <c:v>-2.8809999999999998</c:v>
                </c:pt>
                <c:pt idx="9">
                  <c:v>3.6469999999999998</c:v>
                </c:pt>
                <c:pt idx="10">
                  <c:v>-5.5060000000000002</c:v>
                </c:pt>
                <c:pt idx="11">
                  <c:v>-2.786</c:v>
                </c:pt>
                <c:pt idx="12">
                  <c:v>1.804</c:v>
                </c:pt>
                <c:pt idx="13">
                  <c:v>1.764</c:v>
                </c:pt>
                <c:pt idx="14">
                  <c:v>-5.9989999999999997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0B-0F41-88B6-3E3A499691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CA" sz="1000" b="0" i="0" u="none" strike="noStrike">
                    <a:solidFill>
                      <a:srgbClr val="6B7280"/>
                    </a:solidFill>
                    <a:latin typeface="Arial"/>
                  </a:rPr>
                  <a:t>CAR[0,+3]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1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10-K Sentiment</a:t>
            </a:r>
            <a:endParaRPr lang="en-US" sz="4400"/>
          </a:p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Apple's Stock Returns?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Textual Analysis of 15 Annual Filings (2010–2024)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Feroz Khan  • Henry Wolcott • Chloee Liew •  Hank Shao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626</a:t>
            </a:r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66E13C-A5CB-6A07-2D32-78AD20F0F67C}"/>
              </a:ext>
            </a:extLst>
          </p:cNvPr>
          <p:cNvSpPr txBox="1"/>
          <p:nvPr/>
        </p:nvSpPr>
        <p:spPr>
          <a:xfrm>
            <a:off x="2863516" y="10106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4" name="Picture 3" descr="Apple Logo PNG Transparent &amp; SVG Vector - Freebie Supply">
            <a:extLst>
              <a:ext uri="{FF2B5EF4-FFF2-40B4-BE49-F238E27FC236}">
                <a16:creationId xmlns:a16="http://schemas.microsoft.com/office/drawing/2014/main" id="{D0F78B7E-F0C2-904E-509A-C1D3999E1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1425" y="33302"/>
            <a:ext cx="983375" cy="98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Question Matters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029200" cy="48463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~7%</a:t>
            </a:r>
            <a:endParaRPr lang="en-US" sz="960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S&amp;P 500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3716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is the single largest constituent of the index. When Apple moves, the index moves.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320040" cy="320040"/>
          </a:xfrm>
          <a:prstGeom prst="ellipse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644652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Efficiency (Fama 1970)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semi-strong efficiency, public information including 10-K content should be priced in immediately upon release.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943600" y="2971800"/>
            <a:ext cx="320040" cy="320040"/>
          </a:xfrm>
          <a:prstGeom prst="ellipse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Disclosure (Loughran-McDonald 2011)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446520" y="3337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dictionaries show that managerial tone carries information beyond the numbers. 10-Ks are the paradigmatic test case.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5943600" y="4572000"/>
            <a:ext cx="320040" cy="320040"/>
          </a:xfrm>
          <a:prstGeom prst="ellipse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446520" y="4526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Question for Investors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46520" y="49377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sentiment predicts returns, we have an exploitable signal. If not, the market is efficiently pricing soft information.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pic>
        <p:nvPicPr>
          <p:cNvPr id="22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693D8531-7EE3-F466-82BC-C333E0EF0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Hypotheses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sentiment conveyed in Apple's 10-K filings predict post-filing abnormal stock returns, after controlling for the earnings surprise?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795528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TEST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negative sentiment → lower post-filing CAR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7955280" y="3383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CAR[0,+3] ~ neg_pct &lt; 0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predicts returns beyond earnings surprise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955280" y="4023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β₁ significant controlling for SUE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11247120" cy="6400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1097280" y="4663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10-K tone has shifted significantly over time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7955280" y="4663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Time-series trend in neg_pct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1097280" y="5303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surprise exhibits post-filing drift (PEAD)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955280" y="5303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CAR[+1,+10] ~ SUE &gt; 0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pic>
        <p:nvPicPr>
          <p:cNvPr id="29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5FA74619-084F-169C-36B7-CBC11B6E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Framework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846320"/>
          </a:xfrm>
          <a:prstGeom prst="rect">
            <a:avLst/>
          </a:prstGeom>
          <a:solidFill>
            <a:srgbClr val="F8F9FA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Markets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 (1970)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Semi-strong form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 priced immediately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 for sentiment studies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657600" cy="4846320"/>
          </a:xfrm>
          <a:prstGeom prst="rect">
            <a:avLst/>
          </a:prstGeom>
          <a:solidFill>
            <a:srgbClr val="F8F9FA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51960" y="1280160"/>
            <a:ext cx="3657600" cy="640080"/>
          </a:xfrm>
          <a:prstGeom prst="rect">
            <a:avLst/>
          </a:prstGeom>
          <a:solidFill>
            <a:srgbClr val="4A97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Textual Disclosure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43484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4A9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Loughran &amp; McDonald (2011)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26280" y="26517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dictionary for 10-Ks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2,355 negative words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methodology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657600" cy="4846320"/>
          </a:xfrm>
          <a:prstGeom prst="rect">
            <a:avLst/>
          </a:prstGeom>
          <a:solidFill>
            <a:srgbClr val="F8F9FA"/>
          </a:solidFill>
          <a:ln/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657600" cy="64008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Post-Earnings Drift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2296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&amp; Brown (1968)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8321040" y="26517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surprise → drift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persists 50+ years later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 variable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sits at the intersection of all three: we test whether Apple's 10-K tone moves stock prices, controlling for earnings surprise.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pic>
        <p:nvPicPr>
          <p:cNvPr id="21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CCFA254A-3DF3-B17F-5ED5-4EA395E77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Sample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 EDGAR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Apple 10-K filings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315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556,733 tokens extracted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109728"/>
          </a:xfrm>
          <a:prstGeom prst="rect">
            <a:avLst/>
          </a:prstGeom>
          <a:solidFill>
            <a:srgbClr val="4A97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4A97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 Dictionary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Dame (SRAF)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474720" y="2468880"/>
            <a:ext cx="731520" cy="0"/>
          </a:xfrm>
          <a:prstGeom prst="line">
            <a:avLst/>
          </a:prstGeom>
          <a:noFill/>
          <a:ln w="25400">
            <a:solidFill>
              <a:srgbClr val="4A9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86,553 words • 7 categories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651760" cy="109728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CRSP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daily returns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6309360" y="2468880"/>
            <a:ext cx="73152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~4,150 trading days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8961120" y="12801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61120" y="1280160"/>
            <a:ext cx="2651760" cy="109728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7C4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IBES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91440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consensus EPS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9144000" y="2468880"/>
            <a:ext cx="731520" cy="0"/>
          </a:xfrm>
          <a:prstGeom prst="line">
            <a:avLst/>
          </a:prstGeom>
          <a:noFill/>
          <a:ln w="254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33–55 analysts per quarter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777240" y="4206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91440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10-K Text</a:t>
            </a:r>
            <a:endParaRPr lang="en-US" sz="1300"/>
          </a:p>
        </p:txBody>
      </p:sp>
      <p:sp>
        <p:nvSpPr>
          <p:cNvPr id="31" name="Shape 29"/>
          <p:cNvSpPr/>
          <p:nvPr/>
        </p:nvSpPr>
        <p:spPr>
          <a:xfrm>
            <a:off x="2788920" y="46634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26080" y="4206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2608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06324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(556K)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4937760" y="46634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74920" y="4206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21208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Sentiment</a:t>
            </a:r>
            <a:endParaRPr lang="en-US" sz="1300"/>
          </a:p>
        </p:txBody>
      </p:sp>
      <p:sp>
        <p:nvSpPr>
          <p:cNvPr id="39" name="Shape 37"/>
          <p:cNvSpPr/>
          <p:nvPr/>
        </p:nvSpPr>
        <p:spPr>
          <a:xfrm>
            <a:off x="7086600" y="46634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23760" y="4206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376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736092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Study (CAR)</a:t>
            </a:r>
            <a:endParaRPr lang="en-US" sz="1300"/>
          </a:p>
        </p:txBody>
      </p:sp>
      <p:sp>
        <p:nvSpPr>
          <p:cNvPr id="43" name="Shape 41"/>
          <p:cNvSpPr/>
          <p:nvPr/>
        </p:nvSpPr>
        <p:spPr>
          <a:xfrm>
            <a:off x="9235440" y="46634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372600" y="4206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372600" y="4279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9509760" y="4572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performed in SAS (WRDS). Text processing, event study, and regressions in a single environment for reproducibility.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pic>
        <p:nvPicPr>
          <p:cNvPr id="50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19435A17-6459-4878-5CF2-CF6531CAB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Text Processing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HTML TO SENTIMENT SCORE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10-K HTML from SEC EDGAR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HTTP → 15 filings, ~1.5MB each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0515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 tags &amp; entities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cleaning preserves only prose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into words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515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alphabetic only, ≥2 characters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against LM dictionary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05156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86,553 words, 7 sentiment flags per word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05156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category percentages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05156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neg_pct = (neg word count) / (total words) × 100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DICTIONARY CATEGORIES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6583680" y="1737360"/>
            <a:ext cx="49377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0" y="1737360"/>
            <a:ext cx="73152" cy="50292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841248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2,355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941832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decline, adverse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583680" y="2313432"/>
            <a:ext cx="49377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83680" y="2313432"/>
            <a:ext cx="73152" cy="50292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0" y="23134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8412480" y="23134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9418320" y="2313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gain, strong, improve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6583680" y="2889504"/>
            <a:ext cx="49377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83680" y="2889504"/>
            <a:ext cx="73152" cy="50292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66560" y="28895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8412480" y="28895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300"/>
          </a:p>
        </p:txBody>
      </p:sp>
      <p:sp>
        <p:nvSpPr>
          <p:cNvPr id="40" name="Text 38"/>
          <p:cNvSpPr/>
          <p:nvPr/>
        </p:nvSpPr>
        <p:spPr>
          <a:xfrm>
            <a:off x="9418320" y="2889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may, could, risk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6583680" y="3465576"/>
            <a:ext cx="4937760" cy="502920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66560" y="346557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Litigious</a:t>
            </a:r>
            <a:endParaRPr lang="en-US" sz="1300"/>
          </a:p>
        </p:txBody>
      </p:sp>
      <p:sp>
        <p:nvSpPr>
          <p:cNvPr id="43" name="Text 41"/>
          <p:cNvSpPr/>
          <p:nvPr/>
        </p:nvSpPr>
        <p:spPr>
          <a:xfrm>
            <a:off x="8412480" y="34655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</a:t>
            </a:r>
            <a:endParaRPr lang="en-US" sz="1300"/>
          </a:p>
        </p:txBody>
      </p:sp>
      <p:sp>
        <p:nvSpPr>
          <p:cNvPr id="44" name="Text 42"/>
          <p:cNvSpPr/>
          <p:nvPr/>
        </p:nvSpPr>
        <p:spPr>
          <a:xfrm>
            <a:off x="9418320" y="34655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lawsuit, court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6583680" y="4041648"/>
            <a:ext cx="4937760" cy="502920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66560" y="40416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Modal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8412480" y="40416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9418320" y="4041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will, must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6583680" y="4617720"/>
            <a:ext cx="4937760" cy="502920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766560" y="4617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Modal</a:t>
            </a:r>
            <a:endParaRPr lang="en-US" sz="1300"/>
          </a:p>
        </p:txBody>
      </p:sp>
      <p:sp>
        <p:nvSpPr>
          <p:cNvPr id="51" name="Text 49"/>
          <p:cNvSpPr/>
          <p:nvPr/>
        </p:nvSpPr>
        <p:spPr>
          <a:xfrm>
            <a:off x="8412480" y="4617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/>
          </a:p>
        </p:txBody>
      </p:sp>
      <p:sp>
        <p:nvSpPr>
          <p:cNvPr id="52" name="Text 50"/>
          <p:cNvSpPr/>
          <p:nvPr/>
        </p:nvSpPr>
        <p:spPr>
          <a:xfrm>
            <a:off x="9418320" y="4617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might, perhaps</a:t>
            </a:r>
            <a:endParaRPr lang="en-US" sz="1000"/>
          </a:p>
        </p:txBody>
      </p:sp>
      <p:sp>
        <p:nvSpPr>
          <p:cNvPr id="53" name="Shape 51"/>
          <p:cNvSpPr/>
          <p:nvPr/>
        </p:nvSpPr>
        <p:spPr>
          <a:xfrm>
            <a:off x="6583680" y="5193792"/>
            <a:ext cx="4937760" cy="502920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766560" y="51937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</a:t>
            </a:r>
            <a:endParaRPr lang="en-US" sz="1300"/>
          </a:p>
        </p:txBody>
      </p:sp>
      <p:sp>
        <p:nvSpPr>
          <p:cNvPr id="55" name="Text 53"/>
          <p:cNvSpPr/>
          <p:nvPr/>
        </p:nvSpPr>
        <p:spPr>
          <a:xfrm>
            <a:off x="8412480" y="51937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300"/>
          </a:p>
        </p:txBody>
      </p:sp>
      <p:sp>
        <p:nvSpPr>
          <p:cNvPr id="56" name="Text 54"/>
          <p:cNvSpPr/>
          <p:nvPr/>
        </p:nvSpPr>
        <p:spPr>
          <a:xfrm>
            <a:off x="9418320" y="5193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restricted, limited</a:t>
            </a:r>
            <a:endParaRPr lang="en-US" sz="1000"/>
          </a:p>
        </p:txBody>
      </p:sp>
      <p:sp>
        <p:nvSpPr>
          <p:cNvPr id="57" name="Text 55"/>
          <p:cNvSpPr/>
          <p:nvPr/>
        </p:nvSpPr>
        <p:spPr>
          <a:xfrm>
            <a:off x="6583680" y="5852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primary analysis highlighted in red</a:t>
            </a:r>
            <a:endParaRPr lang="en-US" sz="1000"/>
          </a:p>
        </p:txBody>
      </p:sp>
      <p:sp>
        <p:nvSpPr>
          <p:cNvPr id="58" name="Text 5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pic>
        <p:nvPicPr>
          <p:cNvPr id="60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8A32A1D4-E612-4CF1-116D-3266CE7DA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Event Study Design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10698480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498080" cy="1188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WINDOW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[−120, −11]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trading days — estimate α, β for Market Model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8275320" y="1554480"/>
            <a:ext cx="365760" cy="100584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0" y="1463040"/>
            <a:ext cx="2743200" cy="118872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WINDOW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868680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+10]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868680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AR, CAR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8686800" y="1371600"/>
            <a:ext cx="0" cy="1920240"/>
          </a:xfrm>
          <a:prstGeom prst="line">
            <a:avLst/>
          </a:prstGeom>
          <a:noFill/>
          <a:ln w="25400">
            <a:solidFill>
              <a:srgbClr val="D94A3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DAY (τ=0)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−120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836676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0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097280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+10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486400" cy="21945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MODEL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R_AAPL,t = α + β · R_MKT,t + ε_t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AR_t = R_AAPL,t − (α̂ + β̂ · R_MKT,t)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CAR[τ₁, τ₂] = Σ AR_t  for t ∈ [τ₁, τ₂]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486400" cy="21945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4069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WINDOWS TESTED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+1]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80467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immediate reaction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400800" y="4846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+3]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window (4 days)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6400800" y="5257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+5]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804672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reaction (6 days)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400800" y="5669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[+1, +10]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8046720" y="5669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Post-filing drift — PEAD test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pic>
        <p:nvPicPr>
          <p:cNvPr id="35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B458223B-9E43-B960-0D5A-21337BC9C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#1: Apple's 10-K Tone Is Darkening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48463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+37%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NEGATIVE WORD %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1508760" y="3474720"/>
            <a:ext cx="13716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2010: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1.70%</a:t>
            </a: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2024: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2.33%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increase. Accelerated post-2018. Apple's management is writing increasingly cautious annual filings.</a:t>
            </a:r>
            <a:endParaRPr lang="en-US" sz="1300"/>
          </a:p>
        </p:txBody>
      </p:sp>
      <p:graphicFrame>
        <p:nvGraphicFramePr>
          <p:cNvPr id="9" name="Chart 0"/>
          <p:cNvGraphicFramePr/>
          <p:nvPr/>
        </p:nvGraphicFramePr>
        <p:xfrm>
          <a:off x="4206240" y="128016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  <p:pic>
        <p:nvPicPr>
          <p:cNvPr id="12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9E1A7EFC-1C30-D279-4FD4-B3E5FBE07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#2: But the Market Doesn't Care</a:t>
            </a:r>
            <a:endParaRPr lang="en-US" sz="280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713232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188720"/>
            <a:ext cx="3931920" cy="49377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0467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REGRESSION</a:t>
            </a:r>
            <a:endParaRPr lang="en-US" sz="1100"/>
          </a:p>
        </p:txBody>
      </p:sp>
      <p:sp>
        <p:nvSpPr>
          <p:cNvPr id="6" name="Text 3"/>
          <p:cNvSpPr/>
          <p:nvPr/>
        </p:nvSpPr>
        <p:spPr>
          <a:xfrm>
            <a:off x="80467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CAR[0,+3] = α + β₁·neg_pct + β₂·SUE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8046720" y="2194560"/>
            <a:ext cx="356616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9326880" y="21945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033272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8046720" y="256032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3816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neg_pct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9326880" y="2560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−0.020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1033272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0.638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8046720" y="2926080"/>
            <a:ext cx="3566160" cy="365760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3816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surprise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9326880" y="2926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+0.707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10332720" y="2926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0.463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8046720" y="329184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38160" y="3291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9326880" y="3291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0.079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10332720" y="3291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8046720" y="3931920"/>
            <a:ext cx="3566160" cy="20116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046720" y="3931920"/>
            <a:ext cx="73152" cy="20116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0" y="4069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8229600" y="438912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does NOT predict short-term abnormal returns. Consistent with semi-strong market efficiency: the market prices 10-K content before our window can capture it.</a:t>
            </a:r>
            <a:endParaRPr lang="en-US" sz="110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28" name="Text 25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  <p:pic>
        <p:nvPicPr>
          <p:cNvPr id="29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CA13DF58-B3B1-9E82-0FAD-B9926CAC7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#3: Post-Earnings Drift Is Alive and Well</a:t>
            </a:r>
            <a:endParaRPr lang="en-US" sz="280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7315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188720"/>
            <a:ext cx="3749040" cy="384048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04672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PEAD CONFIRMED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8046720" y="18288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= 1.73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046720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CAR[+1,+10] on SUE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9144000" y="3246120"/>
            <a:ext cx="155448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0.042 **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804672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0.317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804672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at 5% level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457200" y="5212080"/>
            <a:ext cx="11338560" cy="9144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5212080"/>
            <a:ext cx="109728" cy="91440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5303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surprise predicts Apple's 10-day post-filing returns. </a:t>
            </a:r>
            <a:r>
              <a:rPr lang="en-US" sz="12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replicates the classic Post-Earnings-Announcement Drift anomaly (Ball &amp; Brown 1968) for a single high-profile firm. Hard information moves prices with a lag; soft information (sentiment) does not.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pic>
        <p:nvPicPr>
          <p:cNvPr id="17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409B5634-4D69-8C70-8B23-764D11F2A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Cross-Sectional Variation in Abnormal Returns</a:t>
            </a:r>
            <a:endParaRPr lang="en-US" sz="280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77724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1188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8503920" y="1600200"/>
            <a:ext cx="338328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03920" y="1600200"/>
            <a:ext cx="73152" cy="73152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86868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−6.0%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96926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drop in sample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8503920" y="2468880"/>
            <a:ext cx="338328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03920" y="2468880"/>
            <a:ext cx="73152" cy="73152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0" y="2542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86868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−5.5%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969264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COVID-era filing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8503920" y="3337560"/>
            <a:ext cx="338328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503920" y="3337560"/>
            <a:ext cx="73152" cy="731520"/>
          </a:xfrm>
          <a:prstGeom prst="rect">
            <a:avLst/>
          </a:prstGeom>
          <a:solidFill>
            <a:srgbClr val="4A97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0" y="3410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868680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A97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+4.4%</a:t>
            </a:r>
            <a:endParaRPr lang="en-US" sz="1500"/>
          </a:p>
        </p:txBody>
      </p:sp>
      <p:sp>
        <p:nvSpPr>
          <p:cNvPr id="19" name="Text 16"/>
          <p:cNvSpPr/>
          <p:nvPr/>
        </p:nvSpPr>
        <p:spPr>
          <a:xfrm>
            <a:off x="969264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X era</a:t>
            </a:r>
            <a:endParaRPr lang="en-US" sz="1100"/>
          </a:p>
        </p:txBody>
      </p:sp>
      <p:sp>
        <p:nvSpPr>
          <p:cNvPr id="20" name="Shape 17"/>
          <p:cNvSpPr/>
          <p:nvPr/>
        </p:nvSpPr>
        <p:spPr>
          <a:xfrm>
            <a:off x="8503920" y="4206240"/>
            <a:ext cx="338328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503920" y="4206240"/>
            <a:ext cx="73152" cy="731520"/>
          </a:xfrm>
          <a:prstGeom prst="rect">
            <a:avLst/>
          </a:prstGeom>
          <a:solidFill>
            <a:srgbClr val="4A97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0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868680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A97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+3.6%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9692640" y="4389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pivot</a:t>
            </a:r>
            <a:endParaRPr lang="en-US" sz="1100"/>
          </a:p>
        </p:txBody>
      </p:sp>
      <p:sp>
        <p:nvSpPr>
          <p:cNvPr id="25" name="Shape 22"/>
          <p:cNvSpPr/>
          <p:nvPr/>
        </p:nvSpPr>
        <p:spPr>
          <a:xfrm>
            <a:off x="8503920" y="5074920"/>
            <a:ext cx="3383280" cy="7315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03920" y="5074920"/>
            <a:ext cx="73152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8680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300"/>
          </a:p>
        </p:txBody>
      </p:sp>
      <p:sp>
        <p:nvSpPr>
          <p:cNvPr id="28" name="Text 25"/>
          <p:cNvSpPr/>
          <p:nvPr/>
        </p:nvSpPr>
        <p:spPr>
          <a:xfrm>
            <a:off x="8686800" y="5440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10.4pp</a:t>
            </a:r>
            <a:endParaRPr lang="en-US" sz="1500"/>
          </a:p>
        </p:txBody>
      </p:sp>
      <p:sp>
        <p:nvSpPr>
          <p:cNvPr id="29" name="Text 26"/>
          <p:cNvSpPr/>
          <p:nvPr/>
        </p:nvSpPr>
        <p:spPr>
          <a:xfrm>
            <a:off x="969264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heterogeneity</a:t>
            </a:r>
            <a:endParaRPr lang="en-US" sz="110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31" name="Text 28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pic>
        <p:nvPicPr>
          <p:cNvPr id="32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3D77D7C8-86DA-7982-7EA7-8DF6D0DB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657600" cy="48463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solidFill>
            <a:srgbClr val="D94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H2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≠ Alpha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10-K tone does not predict short-term abnormal returns, even controlling for earnings surprise.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D9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semi-strong market efficiency. The market prices soft information efficiently.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251960" y="1280160"/>
            <a:ext cx="3657600" cy="48463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1280160"/>
            <a:ext cx="3657600" cy="822960"/>
          </a:xfrm>
          <a:prstGeom prst="rect">
            <a:avLst/>
          </a:prstGeom>
          <a:solidFill>
            <a:srgbClr val="4A97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34840" y="1353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43484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443484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Is Shifting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4434840" y="28346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10-K has darkened monotonically: negative word % rose 37% from 2010 to 2024.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4434840" y="470916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34840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4A9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434840" y="5074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business complexity: China exposure, AI uncertainty, antitrust, supply chain.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8046720" y="1280160"/>
            <a:ext cx="3657600" cy="484632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46720" y="1280160"/>
            <a:ext cx="3657600" cy="822960"/>
          </a:xfrm>
          <a:prstGeom prst="rect">
            <a:avLst/>
          </a:prstGeom>
          <a:solidFill>
            <a:srgbClr val="4A97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1353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822960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8229600" y="2286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PEAD Alive for Apple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8229600" y="28346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surprise predicts 10-day post-filing returns (β=1.73, p=0.042).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8229600" y="4709160"/>
            <a:ext cx="3291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4A9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8229600" y="50749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anomaly (Ball &amp; Brown 1968) still exists even in the most-watched stock.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  <p:pic>
        <p:nvPicPr>
          <p:cNvPr id="32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63494FB3-6854-F0C8-43AB-19F4A6FD9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How We Address Them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703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9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572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(N = 15)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firm, 15 years. Low statistical power. We report effect sizes, not just p-values, and treat the result as a detailed case study.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703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9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4572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965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Single-firm study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480560" y="2423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RQ is specifically about Apple. We do not generalize — this is a methodology demonstration on a high-profile stock.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703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9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/>
          </a:p>
        </p:txBody>
      </p:sp>
      <p:sp>
        <p:nvSpPr>
          <p:cNvPr id="15" name="Shape 13"/>
          <p:cNvSpPr/>
          <p:nvPr/>
        </p:nvSpPr>
        <p:spPr>
          <a:xfrm>
            <a:off x="8321040" y="1874520"/>
            <a:ext cx="4572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1965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Dictionary-based sentiment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dictionary captures word-level tone but not context. A future extension with FinBERT could capture sentence-level meaning.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703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9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4572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events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announcements often occur within ±5 days of 10-K filings. Controlled for with SUE variable in the regression.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297680" y="3520440"/>
            <a:ext cx="3703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80560" y="3657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D9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/>
          </a:p>
        </p:txBody>
      </p:sp>
      <p:sp>
        <p:nvSpPr>
          <p:cNvPr id="25" name="Shape 23"/>
          <p:cNvSpPr/>
          <p:nvPr/>
        </p:nvSpPr>
        <p:spPr>
          <a:xfrm>
            <a:off x="4480560" y="4160520"/>
            <a:ext cx="4572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0" y="4251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 the S&amp;P 500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480560" y="47091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is ~7% of the benchmark, creating mechanical correlation. The bias makes our test MORE conservative — finding a null makes the result stronger, not weaker.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10-K Sentiment Analysis  |  2010–2024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  <p:pic>
        <p:nvPicPr>
          <p:cNvPr id="30" name="Picture 8" descr="Download Apple Inc. (Apple Computer, Inc.) Logo in SVG Vector or PNG File  Format - Logo.wine">
            <a:extLst>
              <a:ext uri="{FF2B5EF4-FFF2-40B4-BE49-F238E27FC236}">
                <a16:creationId xmlns:a16="http://schemas.microsoft.com/office/drawing/2014/main" id="{F9776C76-0885-EF29-FC3F-AB9DDAD15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039" y="-163361"/>
            <a:ext cx="1890961" cy="126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Apple's 10-K sentiment has darkened,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market doesn't care.</a:t>
            </a:r>
            <a:endParaRPr lang="en-US" sz="4000"/>
          </a:p>
        </p:txBody>
      </p:sp>
      <p:sp>
        <p:nvSpPr>
          <p:cNvPr id="5" name="Shape 3"/>
          <p:cNvSpPr/>
          <p:nvPr/>
        </p:nvSpPr>
        <p:spPr>
          <a:xfrm>
            <a:off x="4251960" y="2971800"/>
            <a:ext cx="3657600" cy="0"/>
          </a:xfrm>
          <a:prstGeom prst="line">
            <a:avLst/>
          </a:prstGeom>
          <a:noFill/>
          <a:ln w="25400">
            <a:solidFill>
              <a:srgbClr val="D94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34747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EMH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for sentiment: soft information is priced efficiently.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343400" y="3383280"/>
            <a:ext cx="34747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PEAD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4114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for earnings: hard information drifts over 10 days.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8092440" y="3383280"/>
            <a:ext cx="34747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21040" y="4114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watched stock obeys classical anomalies.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Questions?</a:t>
            </a:r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Picture 17" descr="Apple Logo PNG Transparent &amp; SVG Vector - Freebie Supply">
            <a:extLst>
              <a:ext uri="{FF2B5EF4-FFF2-40B4-BE49-F238E27FC236}">
                <a16:creationId xmlns:a16="http://schemas.microsoft.com/office/drawing/2014/main" id="{B90B825F-AFA5-F67C-F3B0-8C9BCCE8B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1425" y="33302"/>
            <a:ext cx="983375" cy="98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1430</Words>
  <Application>Microsoft Macintosh PowerPoint</Application>
  <PresentationFormat>Widescreen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10-K Sentiment Analysis</dc:title>
  <dc:subject>PptxGenJS Presentation</dc:subject>
  <dc:creator>Matthieu Lafont et al.</dc:creator>
  <cp:lastModifiedBy>Feroz Khan</cp:lastModifiedBy>
  <cp:revision>2</cp:revision>
  <dcterms:created xsi:type="dcterms:W3CDTF">2026-04-23T04:33:29Z</dcterms:created>
  <dcterms:modified xsi:type="dcterms:W3CDTF">2026-04-23T05:42:11Z</dcterms:modified>
</cp:coreProperties>
</file>